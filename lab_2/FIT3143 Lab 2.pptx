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2"/>
  </p:notesMasterIdLst>
  <p:sldIdLst>
    <p:sldId id="256" r:id="rId2"/>
    <p:sldId id="282" r:id="rId3"/>
    <p:sldId id="257" r:id="rId4"/>
    <p:sldId id="277" r:id="rId5"/>
    <p:sldId id="283" r:id="rId6"/>
    <p:sldId id="280" r:id="rId7"/>
    <p:sldId id="279" r:id="rId8"/>
    <p:sldId id="281" r:id="rId9"/>
    <p:sldId id="285" r:id="rId10"/>
    <p:sldId id="276" r:id="rId1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7"/>
    <p:restoredTop sz="94631"/>
  </p:normalViewPr>
  <p:slideViewPr>
    <p:cSldViewPr snapToGrid="0">
      <p:cViewPr varScale="1">
        <p:scale>
          <a:sx n="163" d="100"/>
          <a:sy n="163" d="100"/>
        </p:scale>
        <p:origin x="184" y="18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92720E0-E394-EAE8-6025-C0F83F6F8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15C968F-F6AF-3D2D-16BA-33708A2557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AD5E25C7-9709-F5C7-4CA9-57EA3B4B16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568430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f76eb00e2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f76eb00e2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>
          <a:extLst>
            <a:ext uri="{FF2B5EF4-FFF2-40B4-BE49-F238E27FC236}">
              <a16:creationId xmlns:a16="http://schemas.microsoft.com/office/drawing/2014/main" id="{EEC0646D-50AC-249E-98A9-B9383125B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f76eb00e2a_0_0:notes">
            <a:extLst>
              <a:ext uri="{FF2B5EF4-FFF2-40B4-BE49-F238E27FC236}">
                <a16:creationId xmlns:a16="http://schemas.microsoft.com/office/drawing/2014/main" id="{061A8026-5BDE-09FB-E9F0-DF0B224532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f76eb00e2a_0_0:notes">
            <a:extLst>
              <a:ext uri="{FF2B5EF4-FFF2-40B4-BE49-F238E27FC236}">
                <a16:creationId xmlns:a16="http://schemas.microsoft.com/office/drawing/2014/main" id="{45C3425F-19F2-394D-16F9-C1F960BF0E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08430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33F8907-696A-B017-B078-727571C83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E1E79872-E9AD-96B8-50DC-D5E357FEB4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C1EC8091-345B-5445-4130-1A2087F97C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240288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>
          <a:extLst>
            <a:ext uri="{FF2B5EF4-FFF2-40B4-BE49-F238E27FC236}">
              <a16:creationId xmlns:a16="http://schemas.microsoft.com/office/drawing/2014/main" id="{72944A4C-C625-6748-94B2-EFA32EAC5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f76eb00e2a_0_0:notes">
            <a:extLst>
              <a:ext uri="{FF2B5EF4-FFF2-40B4-BE49-F238E27FC236}">
                <a16:creationId xmlns:a16="http://schemas.microsoft.com/office/drawing/2014/main" id="{FE9414C3-C661-B84D-BA1E-A6F7EB1914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f76eb00e2a_0_0:notes">
            <a:extLst>
              <a:ext uri="{FF2B5EF4-FFF2-40B4-BE49-F238E27FC236}">
                <a16:creationId xmlns:a16="http://schemas.microsoft.com/office/drawing/2014/main" id="{7914DC03-4095-BCC2-C40F-6C106C114D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12710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>
          <a:extLst>
            <a:ext uri="{FF2B5EF4-FFF2-40B4-BE49-F238E27FC236}">
              <a16:creationId xmlns:a16="http://schemas.microsoft.com/office/drawing/2014/main" id="{154A3496-5B8C-FB09-CDE4-29EDA7464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f76eb00e2a_0_0:notes">
            <a:extLst>
              <a:ext uri="{FF2B5EF4-FFF2-40B4-BE49-F238E27FC236}">
                <a16:creationId xmlns:a16="http://schemas.microsoft.com/office/drawing/2014/main" id="{0FFB6AE4-A4C2-DC60-65B8-1BC98092FD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f76eb00e2a_0_0:notes">
            <a:extLst>
              <a:ext uri="{FF2B5EF4-FFF2-40B4-BE49-F238E27FC236}">
                <a16:creationId xmlns:a16="http://schemas.microsoft.com/office/drawing/2014/main" id="{EE0D1C10-8A67-AB39-3C85-35A2CA98CF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765518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>
          <a:extLst>
            <a:ext uri="{FF2B5EF4-FFF2-40B4-BE49-F238E27FC236}">
              <a16:creationId xmlns:a16="http://schemas.microsoft.com/office/drawing/2014/main" id="{2439F5EF-9434-D8C5-2A3B-2C25E6C8B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f76eb00e2a_0_0:notes">
            <a:extLst>
              <a:ext uri="{FF2B5EF4-FFF2-40B4-BE49-F238E27FC236}">
                <a16:creationId xmlns:a16="http://schemas.microsoft.com/office/drawing/2014/main" id="{7B5F7BE9-E0F6-4ADC-834B-E49A79D259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f76eb00e2a_0_0:notes">
            <a:extLst>
              <a:ext uri="{FF2B5EF4-FFF2-40B4-BE49-F238E27FC236}">
                <a16:creationId xmlns:a16="http://schemas.microsoft.com/office/drawing/2014/main" id="{3B9E57AD-BE33-C309-330D-6EDFE739B7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962742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0FD5EF7D-668E-00D1-060A-D2E181119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009DCA95-76EE-DE3F-CC98-65B9A72DD9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D1F61234-7CA9-6258-8237-DA83987890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0729020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f76eb00e2a_0_1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3f76eb00e2a_0_1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400" dirty="0"/>
              <a:t>Message Passing Interface</a:t>
            </a:r>
            <a:endParaRPr sz="4400" dirty="0"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Finding Prime Numbers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5E5476AE-847A-CD5A-3861-EB6571B53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>
            <a:extLst>
              <a:ext uri="{FF2B5EF4-FFF2-40B4-BE49-F238E27FC236}">
                <a16:creationId xmlns:a16="http://schemas.microsoft.com/office/drawing/2014/main" id="{5BCCD65F-C043-C25F-A812-5B943552EA2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lvl="0"/>
            <a:r>
              <a:rPr lang="en" sz="4400" dirty="0"/>
              <a:t>Task 1 Open MPI Code</a:t>
            </a:r>
            <a:endParaRPr sz="4400" dirty="0"/>
          </a:p>
        </p:txBody>
      </p:sp>
      <p:sp>
        <p:nvSpPr>
          <p:cNvPr id="55" name="Google Shape;55;p13">
            <a:extLst>
              <a:ext uri="{FF2B5EF4-FFF2-40B4-BE49-F238E27FC236}">
                <a16:creationId xmlns:a16="http://schemas.microsoft.com/office/drawing/2014/main" id="{5ABEF92F-7BE5-1DA9-9C47-D31F389BB7E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Finding Prime Numbers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526638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Task 1 Open MPI Code Implementation</a:t>
            </a:r>
            <a:endParaRPr dirty="0"/>
          </a:p>
        </p:txBody>
      </p:sp>
      <p:sp>
        <p:nvSpPr>
          <p:cNvPr id="61" name="Google Shape;61;p14"/>
          <p:cNvSpPr txBox="1">
            <a:spLocks noGrp="1"/>
          </p:cNvSpPr>
          <p:nvPr>
            <p:ph type="body" idx="1"/>
          </p:nvPr>
        </p:nvSpPr>
        <p:spPr>
          <a:xfrm>
            <a:off x="311700" y="841375"/>
            <a:ext cx="8520600" cy="37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Architectural Approach: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Broadcast Setup: The root process parses n and configuration settings, broadcasting them via </a:t>
            </a:r>
            <a:r>
              <a:rPr lang="en-MY" sz="1600" dirty="0" err="1"/>
              <a:t>MPI_Bcast</a:t>
            </a:r>
            <a:r>
              <a:rPr lang="en-MY" sz="1600" dirty="0"/>
              <a:t> to all ranks. 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Local Prime Table: Every rank independently computes a small prime table up to √𝑛using the Sieve of Eratosthenes to perform trial division efficiently. 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Independent Search: Ranks search assigned odd candidates (k = 3 + 2c) in parallel and accumulate results in local dynamic buffers. 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Gather &amp; Merge: Root uses </a:t>
            </a:r>
            <a:r>
              <a:rPr lang="en-MY" sz="1600" dirty="0" err="1"/>
              <a:t>MPI_Gather</a:t>
            </a:r>
            <a:r>
              <a:rPr lang="en-MY" sz="1600" dirty="0"/>
              <a:t> to collect buffer sizes, </a:t>
            </a:r>
            <a:r>
              <a:rPr lang="en-MY" sz="1600" dirty="0" err="1"/>
              <a:t>MPI_Gatherv</a:t>
            </a:r>
            <a:r>
              <a:rPr lang="en-MY" sz="1600" dirty="0"/>
              <a:t> to collect raw prime arrays, performs an m-way merge across pre-sorted segments, and writes the output file. 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>
          <a:extLst>
            <a:ext uri="{FF2B5EF4-FFF2-40B4-BE49-F238E27FC236}">
              <a16:creationId xmlns:a16="http://schemas.microsoft.com/office/drawing/2014/main" id="{5066A58B-E5DB-AC15-D40F-2A31FF6C0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>
            <a:extLst>
              <a:ext uri="{FF2B5EF4-FFF2-40B4-BE49-F238E27FC236}">
                <a16:creationId xmlns:a16="http://schemas.microsoft.com/office/drawing/2014/main" id="{66BAF342-F2D6-5B6F-5CDE-650D481F0DF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en" dirty="0"/>
              <a:t>Task 1 Open MPI Code </a:t>
            </a:r>
            <a:r>
              <a:rPr lang="en-MY" dirty="0"/>
              <a:t>Parallel Partitioning Schemes</a:t>
            </a:r>
            <a:endParaRPr dirty="0"/>
          </a:p>
        </p:txBody>
      </p:sp>
      <p:sp>
        <p:nvSpPr>
          <p:cNvPr id="61" name="Google Shape;61;p14">
            <a:extLst>
              <a:ext uri="{FF2B5EF4-FFF2-40B4-BE49-F238E27FC236}">
                <a16:creationId xmlns:a16="http://schemas.microsoft.com/office/drawing/2014/main" id="{6DB46C5C-A537-7B4B-964D-99CA89B036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841375"/>
            <a:ext cx="8520600" cy="37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>
              <a:spcAft>
                <a:spcPts val="1200"/>
              </a:spcAft>
              <a:buNone/>
            </a:pPr>
            <a:r>
              <a:rPr lang="en-MY" sz="1600" dirty="0"/>
              <a:t>To handle the increasing computational cost of trial division for larger numbers, three distribution schemes were evaluated:</a:t>
            </a:r>
            <a:br>
              <a:rPr lang="en-MY" sz="1600" dirty="0"/>
            </a:br>
            <a:br>
              <a:rPr lang="en-MY" sz="1600" dirty="0"/>
            </a:br>
            <a:r>
              <a:rPr lang="en-MY" sz="1600" dirty="0"/>
              <a:t>Block Partitioning (block): Splits candidates into equal chunks. Higher ranks process significantly larger numbers, leading to severe computational load imbalance and worker idling. 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Cyclic Partitioning (cyclic): Distributes individual odd candidates round-robin (c = r + </a:t>
            </a:r>
            <a:r>
              <a:rPr lang="en-MY" sz="1600" dirty="0" err="1"/>
              <a:t>i</a:t>
            </a:r>
            <a:r>
              <a:rPr lang="en-MY" sz="1600" dirty="0"/>
              <a:t> * p). Interleaves heavy and light workloads evenly, achieving near-optimal load balance across all processes. 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Block-Cyclic Partitioning (</a:t>
            </a:r>
            <a:r>
              <a:rPr lang="en-MY" sz="1600" dirty="0" err="1"/>
              <a:t>blockcyclic</a:t>
            </a:r>
            <a:r>
              <a:rPr lang="en-MY" sz="1600" dirty="0"/>
              <a:t>): Distributes configurable blocks of candidates</a:t>
            </a:r>
            <a:br>
              <a:rPr lang="en-MY" sz="1600" dirty="0"/>
            </a:br>
            <a:r>
              <a:rPr lang="en-MY" sz="1600" dirty="0"/>
              <a:t>(e.g. s = 1024) round-robin. Balances execution time while maintaining cache locality. 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12965562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B61BE3F-546E-6D15-15FE-603AA2242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>
            <a:extLst>
              <a:ext uri="{FF2B5EF4-FFF2-40B4-BE49-F238E27FC236}">
                <a16:creationId xmlns:a16="http://schemas.microsoft.com/office/drawing/2014/main" id="{BD5DD2F7-994B-BB1C-B268-C6982B16BEF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lvl="0"/>
            <a:r>
              <a:rPr lang="en" sz="3600" dirty="0"/>
              <a:t>Task 2 Open MPI + Open MP Code</a:t>
            </a:r>
            <a:endParaRPr sz="3600" dirty="0"/>
          </a:p>
        </p:txBody>
      </p:sp>
      <p:sp>
        <p:nvSpPr>
          <p:cNvPr id="55" name="Google Shape;55;p13">
            <a:extLst>
              <a:ext uri="{FF2B5EF4-FFF2-40B4-BE49-F238E27FC236}">
                <a16:creationId xmlns:a16="http://schemas.microsoft.com/office/drawing/2014/main" id="{D41EAD26-EAE2-C4F7-A0E8-10F25ADE1BB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Finding Prime Numbers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383346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>
          <a:extLst>
            <a:ext uri="{FF2B5EF4-FFF2-40B4-BE49-F238E27FC236}">
              <a16:creationId xmlns:a16="http://schemas.microsoft.com/office/drawing/2014/main" id="{D2429A99-C831-08E8-6DC2-D0164332A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>
            <a:extLst>
              <a:ext uri="{FF2B5EF4-FFF2-40B4-BE49-F238E27FC236}">
                <a16:creationId xmlns:a16="http://schemas.microsoft.com/office/drawing/2014/main" id="{384B8830-BC87-CBFC-94C9-4AFA94EDDE7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Task 2 Open MPI + Open MP Code Implementation</a:t>
            </a:r>
            <a:endParaRPr dirty="0"/>
          </a:p>
        </p:txBody>
      </p:sp>
      <p:sp>
        <p:nvSpPr>
          <p:cNvPr id="61" name="Google Shape;61;p14">
            <a:extLst>
              <a:ext uri="{FF2B5EF4-FFF2-40B4-BE49-F238E27FC236}">
                <a16:creationId xmlns:a16="http://schemas.microsoft.com/office/drawing/2014/main" id="{953D9D2E-95E6-5D6D-4966-1AE21A1AD7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841375"/>
            <a:ext cx="8520600" cy="37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Architectural Approach:</a:t>
            </a:r>
          </a:p>
          <a:p>
            <a:pPr marL="0" lvl="0" indent="0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Two-Level Parallelism: Combines distributed memory parallelism (MPI processes across nodes) with shared memory parallelism (OpenMP threads per process). </a:t>
            </a:r>
          </a:p>
          <a:p>
            <a:pPr marL="0" lvl="0" indent="0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Broadcast Setup: The root MPI process parses input parameters (n, distribution scheme, chunk size) and broadcasts them to all MPI ranks via </a:t>
            </a:r>
            <a:r>
              <a:rPr lang="en-MY" sz="1600" dirty="0" err="1"/>
              <a:t>MPI_Bcast</a:t>
            </a:r>
            <a:r>
              <a:rPr lang="en-MY" sz="1600" dirty="0"/>
              <a:t>. </a:t>
            </a:r>
          </a:p>
          <a:p>
            <a:pPr marL="0" lvl="0" indent="0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Shared Small Prime Table: Each MPI process allocates a shared lookup table of primes up to √n using the Sieve of Eratosthenes, accessible by all local OpenMP threads. </a:t>
            </a:r>
          </a:p>
          <a:p>
            <a:pPr marL="0" lvl="0" indent="0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Thread-Level Accumulation: Threads evaluate assigned candidates in parallel, store local findings in thread-private buffers, and combine them into the process-level array. </a:t>
            </a:r>
          </a:p>
          <a:p>
            <a:pPr marL="0" lvl="0" indent="0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Inter-Node Gather &amp; Write: </a:t>
            </a:r>
            <a:r>
              <a:rPr lang="en-MY" sz="1600" dirty="0" err="1"/>
              <a:t>MPI_Gather</a:t>
            </a:r>
            <a:r>
              <a:rPr lang="en-MY" sz="1600" dirty="0"/>
              <a:t> and </a:t>
            </a:r>
            <a:r>
              <a:rPr lang="en-MY" sz="1600" dirty="0" err="1"/>
              <a:t>MPI_Gatherv</a:t>
            </a:r>
            <a:r>
              <a:rPr lang="en-MY" sz="1600" dirty="0"/>
              <a:t> aggregate results from all MPI processes to the root process, which merges pre-sorted segments and writes the final output to disk. </a:t>
            </a:r>
          </a:p>
          <a:p>
            <a:pPr marL="0" lvl="0" indent="0" rtl="0">
              <a:spcBef>
                <a:spcPts val="0"/>
              </a:spcBef>
              <a:spcAft>
                <a:spcPts val="1200"/>
              </a:spcAft>
              <a:buNone/>
            </a:pP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13762723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>
          <a:extLst>
            <a:ext uri="{FF2B5EF4-FFF2-40B4-BE49-F238E27FC236}">
              <a16:creationId xmlns:a16="http://schemas.microsoft.com/office/drawing/2014/main" id="{42F24529-CFE0-5FA9-FB54-43F036322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>
            <a:extLst>
              <a:ext uri="{FF2B5EF4-FFF2-40B4-BE49-F238E27FC236}">
                <a16:creationId xmlns:a16="http://schemas.microsoft.com/office/drawing/2014/main" id="{8D9EAC0E-527A-DAFF-F1FE-651C8F5C98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-1"/>
            <a:ext cx="8520600" cy="8128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sz="2500" dirty="0"/>
              <a:t>Task 2 Open MPI + Open MP Code </a:t>
            </a:r>
            <a:r>
              <a:rPr lang="en-MY" sz="2500" dirty="0"/>
              <a:t>Parallel Partitioning Schemes</a:t>
            </a:r>
            <a:endParaRPr sz="2500" dirty="0"/>
          </a:p>
        </p:txBody>
      </p:sp>
      <p:sp>
        <p:nvSpPr>
          <p:cNvPr id="61" name="Google Shape;61;p14">
            <a:extLst>
              <a:ext uri="{FF2B5EF4-FFF2-40B4-BE49-F238E27FC236}">
                <a16:creationId xmlns:a16="http://schemas.microsoft.com/office/drawing/2014/main" id="{569C7C10-D39B-86AA-F7B8-36EB1C77C1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64492"/>
            <a:ext cx="8520600" cy="342238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Workload distribution operates across two distinct hierarchical layers to prevent thread idling and balance trial division workloads: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Layer 1: Process-Level Distribution (Inter-Process / MPI)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Block / Cyclic / Block-Cyclic Allocation: Candidates or candidate blocks are dealt round-robin among MPI processes based on their MPI rank r and process count P. 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Coarse Load Balancing: Ensures high-level compute balance across distinct machines or CPU sockets. 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18894952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>
          <a:extLst>
            <a:ext uri="{FF2B5EF4-FFF2-40B4-BE49-F238E27FC236}">
              <a16:creationId xmlns:a16="http://schemas.microsoft.com/office/drawing/2014/main" id="{EB5EFF8F-7746-192E-3B97-88FA9C0C4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>
            <a:extLst>
              <a:ext uri="{FF2B5EF4-FFF2-40B4-BE49-F238E27FC236}">
                <a16:creationId xmlns:a16="http://schemas.microsoft.com/office/drawing/2014/main" id="{EB33225A-5173-8445-A969-FDF60F4161A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-1"/>
            <a:ext cx="8520600" cy="8128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sz="2500" dirty="0"/>
              <a:t>Task 2 Open MPI + Open MP Code </a:t>
            </a:r>
            <a:r>
              <a:rPr lang="en-MY" sz="2500" dirty="0"/>
              <a:t>Parallel Partitioning Schemes</a:t>
            </a:r>
            <a:endParaRPr sz="2500" dirty="0"/>
          </a:p>
        </p:txBody>
      </p:sp>
      <p:sp>
        <p:nvSpPr>
          <p:cNvPr id="61" name="Google Shape;61;p14">
            <a:extLst>
              <a:ext uri="{FF2B5EF4-FFF2-40B4-BE49-F238E27FC236}">
                <a16:creationId xmlns:a16="http://schemas.microsoft.com/office/drawing/2014/main" id="{55A918E6-4677-344F-8CA5-A01B651AAD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64492"/>
            <a:ext cx="8520600" cy="342238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Layer 2: Thread-Level Distribution (Intra-Process / OpenMP)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Static / Dynamic / Guided Scheduling: OpenMP pragmas (#pragma </a:t>
            </a:r>
            <a:r>
              <a:rPr lang="en-MY" sz="1600" dirty="0" err="1"/>
              <a:t>omp</a:t>
            </a:r>
            <a:r>
              <a:rPr lang="en-MY" sz="1600" dirty="0"/>
              <a:t> parallel for schedule(...)) partition the process's assigned candidate chunk among local threads. 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Fine-Grained Load Balancing: Because higher candidate values require more trial division steps, dynamic or cyclic thread scheduling prevents thread starvation within the same shared-memory node. </a:t>
            </a:r>
          </a:p>
        </p:txBody>
      </p:sp>
    </p:spTree>
    <p:extLst>
      <p:ext uri="{BB962C8B-B14F-4D97-AF65-F5344CB8AC3E}">
        <p14:creationId xmlns:p14="http://schemas.microsoft.com/office/powerpoint/2010/main" val="11002871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59E4D482-1C32-3BEA-C46A-87BD91DD2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>
            <a:extLst>
              <a:ext uri="{FF2B5EF4-FFF2-40B4-BE49-F238E27FC236}">
                <a16:creationId xmlns:a16="http://schemas.microsoft.com/office/drawing/2014/main" id="{A54B520D-853D-95DB-EC3F-C2B08891D3A8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lvl="0"/>
            <a:r>
              <a:rPr lang="en" sz="4000" dirty="0"/>
              <a:t>Task 3 </a:t>
            </a:r>
            <a:r>
              <a:rPr lang="en-MY" sz="4000" dirty="0"/>
              <a:t>Performance Evaluation</a:t>
            </a:r>
            <a:endParaRPr sz="4000" dirty="0"/>
          </a:p>
        </p:txBody>
      </p:sp>
      <p:sp>
        <p:nvSpPr>
          <p:cNvPr id="55" name="Google Shape;55;p13">
            <a:extLst>
              <a:ext uri="{FF2B5EF4-FFF2-40B4-BE49-F238E27FC236}">
                <a16:creationId xmlns:a16="http://schemas.microsoft.com/office/drawing/2014/main" id="{61633085-EB71-E833-635D-5311C4C2AC04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Finding Prime Numbers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244805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3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Q&amp;A</a:t>
            </a:r>
            <a:endParaRPr/>
          </a:p>
        </p:txBody>
      </p:sp>
      <p:sp>
        <p:nvSpPr>
          <p:cNvPr id="192" name="Google Shape;192;p3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 for your attention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596</Words>
  <Application>Microsoft Macintosh PowerPoint</Application>
  <PresentationFormat>On-screen Show (16:9)</PresentationFormat>
  <Paragraphs>36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2" baseType="lpstr">
      <vt:lpstr>Arial</vt:lpstr>
      <vt:lpstr>Simple Light</vt:lpstr>
      <vt:lpstr>Message Passing Interface</vt:lpstr>
      <vt:lpstr>Task 1 Open MPI Code</vt:lpstr>
      <vt:lpstr>Task 1 Open MPI Code Implementation</vt:lpstr>
      <vt:lpstr>Task 1 Open MPI Code Parallel Partitioning Schemes</vt:lpstr>
      <vt:lpstr>Task 2 Open MPI + Open MP Code</vt:lpstr>
      <vt:lpstr>Task 2 Open MPI + Open MP Code Implementation</vt:lpstr>
      <vt:lpstr>Task 2 Open MPI + Open MP Code Parallel Partitioning Schemes</vt:lpstr>
      <vt:lpstr>Task 2 Open MPI + Open MP Code Parallel Partitioning Schemes</vt:lpstr>
      <vt:lpstr>Task 3 Performance Evaluation</vt:lpstr>
      <vt:lpstr>Q&amp;A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Hao Lee</cp:lastModifiedBy>
  <cp:revision>3</cp:revision>
  <dcterms:modified xsi:type="dcterms:W3CDTF">2026-09-20T14:08:03Z</dcterms:modified>
</cp:coreProperties>
</file>