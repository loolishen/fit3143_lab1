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82" r:id="rId3"/>
    <p:sldId id="257" r:id="rId4"/>
    <p:sldId id="277" r:id="rId5"/>
    <p:sldId id="266" r:id="rId6"/>
    <p:sldId id="293" r:id="rId7"/>
    <p:sldId id="294" r:id="rId8"/>
    <p:sldId id="283" r:id="rId9"/>
    <p:sldId id="280" r:id="rId10"/>
    <p:sldId id="279" r:id="rId11"/>
    <p:sldId id="281" r:id="rId12"/>
    <p:sldId id="296" r:id="rId13"/>
    <p:sldId id="295" r:id="rId14"/>
    <p:sldId id="285" r:id="rId15"/>
    <p:sldId id="297" r:id="rId16"/>
    <p:sldId id="290" r:id="rId17"/>
    <p:sldId id="292" r:id="rId18"/>
    <p:sldId id="298" r:id="rId19"/>
    <p:sldId id="276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31"/>
  </p:normalViewPr>
  <p:slideViewPr>
    <p:cSldViewPr snapToGrid="0">
      <p:cViewPr varScale="1">
        <p:scale>
          <a:sx n="163" d="100"/>
          <a:sy n="163" d="100"/>
        </p:scale>
        <p:origin x="18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92720E0-E394-EAE8-6025-C0F83F6F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15C968F-F6AF-3D2D-16BA-33708A2557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D5E25C7-9709-F5C7-4CA9-57EA3B4B16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6843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EEC0646D-50AC-249E-98A9-B9383125B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061A8026-5BDE-09FB-E9F0-DF0B22453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45C3425F-19F2-394D-16F9-C1F960BF0E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843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048870D9-5D59-63F8-6BC9-CAD5572CA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EC54AD83-09B6-A1CE-E930-780F77EB5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E8385518-D78C-32A0-2753-5A0660839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70134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FC2A6CB3-39FF-D095-FEAB-1C8EF367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E1B16BDA-2A22-B703-5736-4F1643B8E5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68E79A77-451F-A0B0-A517-E937DE13D3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3731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33F8907-696A-B017-B078-727571C8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1E79872-E9AD-96B8-50DC-D5E357FEB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1EC8091-345B-5445-4130-1A2087F97C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40288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72944A4C-C625-6748-94B2-EFA32EAC5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FE9414C3-C661-B84D-BA1E-A6F7EB1914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7914DC03-4095-BCC2-C40F-6C106C114D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71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154A3496-5B8C-FB09-CDE4-29EDA746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0FFB6AE4-A4C2-DC60-65B8-1BC98092FD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EE0D1C10-8A67-AB39-3C85-35A2CA98CF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65518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2439F5EF-9434-D8C5-2A3B-2C25E6C8B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7B5F7BE9-E0F6-4ADC-834B-E49A79D25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3B9E57AD-BE33-C309-330D-6EDFE739B7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62742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071A3283-ABC6-A400-BB93-EF61B998E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5F64D784-6423-C676-5E96-F8BA6742B9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8943459F-E419-26A2-2396-DE4D93E8B1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4902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8E558E96-B30E-CF3E-61E1-42D981E5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F7D54283-C151-1BEF-2ED3-6776F29A29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6DDF50D6-26CD-A52D-D805-5EBC602B1B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4997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D5EF7D-668E-00D1-060A-D2E181119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09DCA95-76EE-DE3F-CC98-65B9A72DD9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F61234-7CA9-6258-8237-DA8398789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90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0CB996D3-C2FA-E3E7-9AE8-243F1AF9C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AD701DA7-8958-71D0-7EF7-B70F6E1E8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BA50F447-ACB1-C0C9-2503-8323CF327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02242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B7B9EA31-6100-0A06-EB8C-E6A15042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F7A6BE7F-9F96-6ADE-47BE-3D5A0FC1B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081D2C62-CB6E-2D8D-C349-8EB82CD539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87936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AAF9266B-BAB6-1E17-D3B5-DC484B37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531A9C0E-2817-D272-0426-AF6632468C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A8CC0012-DD39-58C9-0DF3-3E110CEED0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467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2DF02099-6D93-6E25-EAEE-61C3B964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B02245D5-DF42-23C0-667E-6F87E0466A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5326CA5F-1BE3-C5C2-54E4-7B7707AE59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96776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76eb00e2a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76eb00e2a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Message Passing Interface</a:t>
            </a:r>
            <a:endParaRPr sz="4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E5476AE-847A-CD5A-3861-EB6571B53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5BCCD65F-C043-C25F-A812-5B943552EA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4400" dirty="0"/>
              <a:t>Task 1 Open MPI Code</a:t>
            </a:r>
            <a:endParaRPr sz="44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5ABEF92F-7BE5-1DA9-9C47-D31F389BB7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2663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1 Open MPI Code Implementation</a:t>
            </a:r>
            <a:endParaRPr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Architectural Approach: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Broadcast Setup: The root process parses n and configuration settings, broadcasting them via </a:t>
            </a:r>
            <a:r>
              <a:rPr lang="en-MY" sz="1600" dirty="0" err="1"/>
              <a:t>MPI_Bcast</a:t>
            </a:r>
            <a:r>
              <a:rPr lang="en-MY" sz="1600" dirty="0"/>
              <a:t> to all ranks.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Local Prime Table: Every rank independently computes a small prime table up to √𝑛using the Sieve of Eratosthenes to perform trial division efficiently.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Independent Search: Ranks search assigned odd candidates (k = 3 + 2c) in parallel and accumulate results in local dynamic buffers.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Gather &amp; Merge: Root uses </a:t>
            </a:r>
            <a:r>
              <a:rPr lang="en-MY" sz="1600" dirty="0" err="1"/>
              <a:t>MPI_Gather</a:t>
            </a:r>
            <a:r>
              <a:rPr lang="en-MY" sz="1600" dirty="0"/>
              <a:t> to collect buffer sizes, </a:t>
            </a:r>
            <a:r>
              <a:rPr lang="en-MY" sz="1600" dirty="0" err="1"/>
              <a:t>MPI_Gatherv</a:t>
            </a:r>
            <a:r>
              <a:rPr lang="en-MY" sz="1600" dirty="0"/>
              <a:t> to collect raw prime arrays, performs an m-way merge across pre-sorted segments, and writes the output file.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5066A58B-E5DB-AC15-D40F-2A31FF6C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66BAF342-F2D6-5B6F-5CDE-650D481F0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Code </a:t>
            </a:r>
            <a:r>
              <a:rPr lang="en-MY" dirty="0"/>
              <a:t>Parallel Partitioning Schemes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6DB46C5C-A537-7B4B-964D-99CA89B036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1200"/>
              </a:spcAft>
              <a:buNone/>
            </a:pPr>
            <a:r>
              <a:rPr lang="en-MY" sz="1600" dirty="0"/>
              <a:t>To handle the increasing computational cost of trial division for larger numbers, three distribution schemes were evaluated:</a:t>
            </a:r>
            <a:br>
              <a:rPr lang="en-MY" sz="1600" dirty="0"/>
            </a:br>
            <a:br>
              <a:rPr lang="en-MY" sz="1600" dirty="0"/>
            </a:br>
            <a:r>
              <a:rPr lang="en-MY" sz="1600" dirty="0"/>
              <a:t>Block Partitioning (block): Splits candidates into equal chunks. Higher ranks process significantly larger numbers, leading to severe computational load imbalance and worker idling.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Cyclic Partitioning (cyclic): Distributes individual odd candidates round-robin (c = r + </a:t>
            </a:r>
            <a:r>
              <a:rPr lang="en-MY" sz="1600" dirty="0" err="1"/>
              <a:t>i</a:t>
            </a:r>
            <a:r>
              <a:rPr lang="en-MY" sz="1600" dirty="0"/>
              <a:t> * p). Interleaves heavy and light workloads evenly, achieving near-optimal load balance across all processes.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Block-Cyclic Partitioning (</a:t>
            </a:r>
            <a:r>
              <a:rPr lang="en-MY" sz="1600" dirty="0" err="1"/>
              <a:t>blockcyclic</a:t>
            </a:r>
            <a:r>
              <a:rPr lang="en-MY" sz="1600" dirty="0"/>
              <a:t>): Distributes configurable blocks of candidates</a:t>
            </a:r>
            <a:br>
              <a:rPr lang="en-MY" sz="1600" dirty="0"/>
            </a:br>
            <a:r>
              <a:rPr lang="en-MY" sz="1600" dirty="0"/>
              <a:t>(e.g. s = 1024) round-robin. Balances execution time while maintaining cache locality.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96556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(graph 1)</a:t>
            </a:r>
            <a:endParaRPr dirty="0"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-MY" dirty="0"/>
              <a:t>Open MPI was run with 4 processes and cyclic partitioning for this graph.</a:t>
            </a:r>
          </a:p>
          <a:p>
            <a:pPr marL="0" lvl="0" indent="0">
              <a:buNone/>
            </a:pPr>
            <a:endParaRPr lang="en-MY" dirty="0"/>
          </a:p>
          <a:p>
            <a:pPr marL="0" lvl="0" indent="0">
              <a:buNone/>
            </a:pPr>
            <a:r>
              <a:rPr lang="en-MY" dirty="0"/>
              <a:t>OpenMP was run with 4 threads for this graph.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4B145E-3DDC-0827-6397-983F7F7ED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03544"/>
            <a:ext cx="5145005" cy="31364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58618BBA-5039-2977-80E2-CE9B93F0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012AEE91-F177-ABC5-FC9D-0940E5DF1C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(graph 2)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93E222F5-5800-C9C7-92D2-38B0AFB94C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Open MPI was run with 4 processes and cyclic partitioning for this graph.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OpenMP was run with 4 threads for this graph.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Empirical speed up is calculated by dividing the base time by the current time at the current n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2CF125-5F50-A1FF-0219-A5B5228C3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24405"/>
            <a:ext cx="5016988" cy="309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315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0BF1B462-3739-D9D6-FF91-A55929FC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FE38EDB7-F2C7-EF25-784D-40E1BC5F9E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(graph 3)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EC4EF5C9-EEAF-F508-FB3D-7195E5EA61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Open MPI was run with cyclic partitioning for this graph.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Both Open MPI and OpenMP was run with an n of 205,000,000 for this graph.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2B8405-3052-CBCA-9C36-17C7AAB90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42714"/>
            <a:ext cx="4957625" cy="305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072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61BE3F-546E-6D15-15FE-603AA224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BD5DD2F7-994B-BB1C-B268-C6982B16BE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3600" dirty="0"/>
              <a:t>Task 2 Open MPI + Open MP Code</a:t>
            </a:r>
            <a:endParaRPr sz="36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D41EAD26-EAE2-C4F7-A0E8-10F25ADE1B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833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D2429A99-C831-08E8-6DC2-D0164332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384B8830-BC87-CBFC-94C9-4AFA94EDDE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2 Open MPI + Open MP Code Implementation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953D9D2E-95E6-5D6D-4966-1AE21A1AD7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Architectural Approach: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Two-Level Parallelism: Combines distributed memory parallelism (MPI processes across nodes) with shared memory parallelism (OpenMP threads per process).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Broadcast Setup: The root MPI process parses input parameters (n, distribution scheme, chunk size) and broadcasts them to all MPI ranks via </a:t>
            </a:r>
            <a:r>
              <a:rPr lang="en-MY" sz="1600" dirty="0" err="1"/>
              <a:t>MPI_Bcast</a:t>
            </a:r>
            <a:r>
              <a:rPr lang="en-MY" sz="1600" dirty="0"/>
              <a:t>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Shared Small Prime Table: Each MPI process allocates a shared lookup table of primes up to √n using the Sieve of Eratosthenes, accessible by all local OpenMP threads.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Thread-Level Accumulation: Threads evaluate assigned candidates in parallel, store local findings in thread-private buffers, and combine them into the process-level array.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Inter-Node Gather &amp; Write: </a:t>
            </a:r>
            <a:r>
              <a:rPr lang="en-MY" sz="1600" dirty="0" err="1"/>
              <a:t>MPI_Gather</a:t>
            </a:r>
            <a:r>
              <a:rPr lang="en-MY" sz="1600" dirty="0"/>
              <a:t> and </a:t>
            </a:r>
            <a:r>
              <a:rPr lang="en-MY" sz="1600" dirty="0" err="1"/>
              <a:t>MPI_Gatherv</a:t>
            </a:r>
            <a:r>
              <a:rPr lang="en-MY" sz="1600" dirty="0"/>
              <a:t> aggregate results from all MPI processes to the root process, which merges pre-sorted segments and writes the final output to disk.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376272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42F24529-CFE0-5FA9-FB54-43F03632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8D9EAC0E-527A-DAFF-F1FE-651C8F5C98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-1"/>
            <a:ext cx="8520600" cy="812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500" dirty="0"/>
              <a:t>Task 2 Open MPI + Open MP Code </a:t>
            </a:r>
            <a:r>
              <a:rPr lang="en-MY" sz="2500" dirty="0"/>
              <a:t>Parallel Partitioning Schemes</a:t>
            </a:r>
            <a:endParaRPr sz="2500"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569C7C10-D39B-86AA-F7B8-36EB1C77C1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64492"/>
            <a:ext cx="8520600" cy="34223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Workload distribution operates across two distinct hierarchical layers to prevent thread idling and balance trial division workloads: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Layer 1: Process-Level Distribution (Inter-Process / MPI)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Block / Cyclic / Block-Cyclic Allocation: Candidates or candidate blocks are dealt round-robin among MPI processes based on their MPI rank r and process count P.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Coarse Load Balancing: Ensures high-level compute balance across distinct machines or CPU sockets.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889495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EB5EFF8F-7746-192E-3B97-88FA9C0C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EB33225A-5173-8445-A969-FDF60F4161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-1"/>
            <a:ext cx="8520600" cy="812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500" dirty="0"/>
              <a:t>Task 2 Open MPI + Open MP Code </a:t>
            </a:r>
            <a:r>
              <a:rPr lang="en-MY" sz="2500" dirty="0"/>
              <a:t>Parallel Partitioning Schemes</a:t>
            </a:r>
            <a:endParaRPr sz="2500"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55A918E6-4677-344F-8CA5-A01B651AAD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64492"/>
            <a:ext cx="8520600" cy="34223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Layer 2: Thread-Level Distribution (Intra-Process / OpenMP)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Static / Dynamic / Guided Scheduling: OpenMP pragmas (#pragma </a:t>
            </a:r>
            <a:r>
              <a:rPr lang="en-MY" sz="1600" dirty="0" err="1"/>
              <a:t>omp</a:t>
            </a:r>
            <a:r>
              <a:rPr lang="en-MY" sz="1600" dirty="0"/>
              <a:t> parallel for schedule(...)) partition the process's assigned candidate chunk among local threads.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Fine-Grained Load Balancing: Because higher candidate values require more trial division steps, dynamic or cyclic thread scheduling prevents thread starvation within the same shared-memory node. </a:t>
            </a:r>
          </a:p>
        </p:txBody>
      </p:sp>
    </p:spTree>
    <p:extLst>
      <p:ext uri="{BB962C8B-B14F-4D97-AF65-F5344CB8AC3E}">
        <p14:creationId xmlns:p14="http://schemas.microsoft.com/office/powerpoint/2010/main" val="1100287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753B47B7-6DE8-6F1F-329E-878E5E63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6BB016A3-CC7C-72ED-4778-A57FF88799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2 Open MPI + Open MP (graph 1)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356A2213-72BF-2C14-C0B4-A3593B60F6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937846"/>
            <a:ext cx="3360000" cy="36436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MY" dirty="0"/>
              <a:t>Both Hybrid and Open MPI was run with cyclic partitioning, 1 process and an n of 205,000,000 for this graph.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MY" dirty="0"/>
              <a:t>Empirical speed up is calculated by dividing the base time by the current time at the current n.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D48F47-B1D0-CF30-7922-95A78E80E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50486"/>
            <a:ext cx="4940238" cy="304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10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1DED18AA-6578-FE84-2638-05EAD240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DA9F895C-9E2C-514A-F611-A2298833AF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2 Open MPI + Open MP (graph 2)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4A9DB027-65D2-6257-12C6-D2F56CE46D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937846"/>
            <a:ext cx="3360000" cy="36436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MY" dirty="0"/>
              <a:t>Hybrid was run with cyclic partitioning for this graph.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MY" dirty="0"/>
              <a:t>Both Hybrid and OpenMP were ran with an n of 205,000,000 for this graph.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MY" dirty="0"/>
              <a:t>Empirical speed up is calculated by dividing the base time by the current time at the current 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E3511C-0A92-E820-B9A0-250BEED58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40155"/>
            <a:ext cx="5010577" cy="3063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79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9E4D482-1C32-3BEA-C46A-87BD91DD2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A54B520D-853D-95DB-EC3F-C2B08891D3A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4000" dirty="0"/>
              <a:t>Task 3 </a:t>
            </a:r>
            <a:r>
              <a:rPr lang="en-MY" sz="4000" dirty="0"/>
              <a:t>Performance Evaluation</a:t>
            </a:r>
            <a:endParaRPr sz="40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61633085-EB71-E833-635D-5311C4C2AC0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4480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9C414526-B9FD-26B8-A1F5-DBF32435D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476FDA35-D63D-4F8F-2E33-13CFBE18E3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3 Performance Evaluation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F07FE11C-EF87-45DD-436A-22DB25F326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Empirical Speed-up for Task 1 against the serial version: 3.517167374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with n at 205,000,000 and processes at 8.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MY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MY" sz="1600" dirty="0"/>
              <a:t>Empirical Speed-up for Task 2 against the serial version: 3.757205158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MY" sz="1600" dirty="0"/>
              <a:t>With n at 205,000,000 and total workers at 8.</a:t>
            </a:r>
          </a:p>
          <a:p>
            <a:pPr marL="0" indent="0">
              <a:spcAft>
                <a:spcPts val="1200"/>
              </a:spcAft>
              <a:buNone/>
            </a:pPr>
            <a:endParaRPr lang="en-MY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MY" sz="1600" dirty="0"/>
              <a:t>There are 8 processors available on the machine that was used to test these numbers.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MY" sz="1600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2396758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AD30C1DC-28C7-348B-4F4C-D23B69C4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9AF780A6-5D9B-59EA-0E99-F9CA07F12E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3 Performance Evaluation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A9F7B473-9534-0983-7E9E-F10811F9C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23323" y="1930399"/>
            <a:ext cx="3344985" cy="26564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This is the theoretical speed-up attained from computing using Amdahl’s Law or Gustafson’s Law.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7D3214-4A89-B399-A348-F247D11E3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930400"/>
            <a:ext cx="3162300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929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3A6A18AC-A509-FCA6-E5AC-294A3A98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41606CD0-3464-62B6-24A4-9E28E40E2B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3 Performance Evaluation (graph 1)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3851F7A3-58BA-D255-9E11-C1C104140E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" dirty="0"/>
              <a:t>Open MPI (Task 1) was run with cyclic partitioning for this graph.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F19D7A-1D82-1FA1-E3B8-06D4EDA7D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11359"/>
            <a:ext cx="5065925" cy="312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0287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6261A20A-EF3E-BCC6-E641-B97907D2B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9E7949D3-F893-6238-6F0E-7C0D2B804C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3 Performance Evaluation (graph 2)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4C29459A-650B-9645-FB06-258915C5B1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" dirty="0"/>
              <a:t>Hybrid (Task 2) was run with cyclic partitioning for this graph.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988878-43BE-AC0B-6808-D6829F1DC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39105"/>
            <a:ext cx="4975847" cy="306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779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192" name="Google Shape;192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your attention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1584</TotalTime>
  <Words>945</Words>
  <Application>Microsoft Macintosh PowerPoint</Application>
  <PresentationFormat>On-screen Show (16:9)</PresentationFormat>
  <Paragraphs>71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1" baseType="lpstr">
      <vt:lpstr>Arial</vt:lpstr>
      <vt:lpstr>Simple Light</vt:lpstr>
      <vt:lpstr>Message Passing Interface</vt:lpstr>
      <vt:lpstr>Task 1 Open MPI Code</vt:lpstr>
      <vt:lpstr>Task 1 Open MPI Code Implementation</vt:lpstr>
      <vt:lpstr>Task 1 Open MPI Code Parallel Partitioning Schemes</vt:lpstr>
      <vt:lpstr>Task 1 Open MPI (graph 1)</vt:lpstr>
      <vt:lpstr>Task 1 Open MPI (graph 2)</vt:lpstr>
      <vt:lpstr>Task 1 Open MPI (graph 3)</vt:lpstr>
      <vt:lpstr>Task 2 Open MPI + Open MP Code</vt:lpstr>
      <vt:lpstr>Task 2 Open MPI + Open MP Code Implementation</vt:lpstr>
      <vt:lpstr>Task 2 Open MPI + Open MP Code Parallel Partitioning Schemes</vt:lpstr>
      <vt:lpstr>Task 2 Open MPI + Open MP Code Parallel Partitioning Schemes</vt:lpstr>
      <vt:lpstr>Task 2 Open MPI + Open MP (graph 1)</vt:lpstr>
      <vt:lpstr>Task 2 Open MPI + Open MP (graph 2)</vt:lpstr>
      <vt:lpstr>Task 3 Performance Evaluation</vt:lpstr>
      <vt:lpstr>Task 3 Performance Evaluation</vt:lpstr>
      <vt:lpstr>Task 3 Performance Evaluation</vt:lpstr>
      <vt:lpstr>Task 3 Performance Evaluation (graph 1)</vt:lpstr>
      <vt:lpstr>Task 3 Performance Evaluation (graph 2)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 Lee</cp:lastModifiedBy>
  <cp:revision>5</cp:revision>
  <dcterms:modified xsi:type="dcterms:W3CDTF">2026-09-21T15:40:24Z</dcterms:modified>
</cp:coreProperties>
</file>